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540"/>
  </p:normalViewPr>
  <p:slideViewPr>
    <p:cSldViewPr snapToGrid="0" snapToObjects="1">
      <p:cViewPr>
        <p:scale>
          <a:sx n="130" d="100"/>
          <a:sy n="130" d="100"/>
        </p:scale>
        <p:origin x="-168" y="-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8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Frame the week: session 1 is the parts, session 2 is agents built from the</a:t>
            </a:r>
          </a:p>
          <a:p>
            <a:r>
              <a:t>parts, session 3 is agentic RAG and MCP. Today ends with a real pipeline that deliberately</a:t>
            </a:r>
          </a:p>
          <a:p>
            <a:r>
              <a:t>has no agent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 (2 min). The reason to learn LangChain after the SDK: provider freedom and a huge integration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(1 min). Notebook: 01_langchain_components.ipynb.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PACKAGES (5 min). The single biggest source of confusion is that tutorials mix these up.</a:t>
            </a:r>
          </a:p>
          <a:p>
            <a:r>
              <a:t>Most errors learners hit this week will be "cannot import X from langchain" — X moved to</a:t>
            </a:r>
          </a:p>
          <a:p>
            <a:r>
              <a:t>langchain-classic or langchain-core.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MIGRATION (6 min). Most YouTube tutorials and Stack Overflow answers use the left column.</a:t>
            </a:r>
          </a:p>
          <a:p>
            <a:r>
              <a:t>Tell learners: if a snippet imports from langchain.chains or langchain.memory, it's pre-v1.</a:t>
            </a:r>
          </a:p>
          <a:p>
            <a:r>
              <a:t>The old classes live in langchain-classic for legacy code, but new code shouldn't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Parts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MODELS (10 min). The provider-string is the headline reason teams choose LangChain: swapping</a:t>
            </a:r>
          </a:p>
          <a:p>
            <a:r>
              <a:t>providers is a one-line change. Demo batch vs a for-loop to show concurrency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PROMPTS (10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STRUCTURED (8 min). Literal types constrain categories; Field(ge, le) is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LCEL (15 min). Build each pattern live. The routing cell is Week 10's rung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GOTCHA (4 min). Show the error text: learners will see it within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TOOLS (8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Part 6. Products are fictional (Nimbus).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(20 min). Walk it left to right with the notebook open. The division of labour is</a:t>
            </a:r>
          </a:p>
          <a:p>
            <a:r>
              <a:t>the lesson: the model classifies, summarises and writes; pandas counts; a regex catches</a:t>
            </a:r>
          </a:p>
          <a:p>
            <a:r>
              <a:t>safety words, because that must never be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COUNTING (6 min). Real output from building this notebook. The model was asked "how many</a:t>
            </a:r>
          </a:p>
          <a:p>
            <a:r>
              <a:t>reviews mention each problem" and produced 120 for a product with 12 reviews. The report</a:t>
            </a:r>
          </a:p>
          <a:p>
            <a:r>
              <a:t>chain then quoted those numbers as fact.</a:t>
            </a:r>
          </a:p>
          <a:p>
            <a:endParaRPr/>
          </a:p>
          <a:p>
            <a:r>
              <a:t>The lesson generalises: any number a model produces is a guess unless code computed it and</a:t>
            </a:r>
          </a:p>
          <a:p>
            <a:r>
              <a:t>handed it over. Week 10: "don't pay a model to do arithmetic it might get wrong".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DECISION (4 min). The right column's example is next session's opening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Start from last session's closing question: why did Orbit's rating drop?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 (5 min). Same concepts, third vocabulary. Say it out loud so nobody thinks this is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CREATE_AGENT (8 min). print(list(analyst.get_graph().nodes)) shows the four nodes. Next week they draw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SAFE TOOLS (7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UNITS (5 min). Both happened while building the notebook. The model guesses whatever the tool doesn't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INVESTIGATE (15 min). Run both cells. Count the tool calls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PARTS 3–6 (25 min). Swap InMemorySaver for SqliteSaver/PostgresSaver for real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Part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 (4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BUDGETS (6 min). Real numbers from the notebook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PII (8 min). Deterministic: redaction is regex-based, so this reproduces every time.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HITL (8 min). Edit is the one the SDK doesn't have natively — worth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ERRORS (5 min). We found this by accident — a chart bug crashed a whole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WORST BUG (6 min). End the session on this. Every individual part worked: the tool made a</a:t>
            </a:r>
          </a:p>
          <a:p>
            <a:r>
              <a:t>correct chart, memory worked, the approval step ran. The model still sent a confident,</a:t>
            </a:r>
          </a:p>
          <a:p>
            <a:r>
              <a:t>wrong report, because it was describing something it couldn't see, and the human approved</a:t>
            </a:r>
          </a:p>
          <a:p>
            <a:r>
              <a:t>a subject line instead of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Last session ended with 'the data can't show the root cause'. Today it gets the release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SETUP (4 min). All Nimbus documents are fictional and short enough to read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CLASSIC (10 min). Real output. The second answer is honest — and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SQL (6 min). Run the DELETE live. Same idea as Week 10's scoped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ROUTING (8 min). The last row is the one classic RAG handles worst — it always retrieves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PAYOFF (8 min). The answer to the question Session 1 ended on. Real numbers from the capstone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PARALLEL (12 min) — the headline lesson of the session. The failing answers were fluent and</a:t>
            </a:r>
          </a:p>
          <a:p>
            <a:r>
              <a:t>cited the right document, and described the wrong numbers. Only the trajectory shows it.</a:t>
            </a:r>
          </a:p>
          <a:p>
            <a:endParaRPr/>
          </a:p>
          <a:p>
            <a:r>
              <a:t>check_windows in the notebook is a dozen lines, and it's how we found the cause. A check</a:t>
            </a:r>
          </a:p>
          <a:p>
            <a:r>
              <a:t>you run on every answer beats an instruction the model follows most of the time.</a:t>
            </a:r>
          </a:p>
          <a:p>
            <a:endParaRPr/>
          </a:p>
          <a:p>
            <a:r>
              <a:t>Week 11 celebrated parallel calls ("flights, hotel and visa at once"). Both are true: it</a:t>
            </a:r>
          </a:p>
          <a:p>
            <a:r>
              <a:t>depends on whether the calls depend on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EVAL (8 min). Exercise 1 breaks a description on purpose — watch the accuracy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 (12 min). If learners lack Node, the notebook skips the filesystem server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CAPSTONE (10 min). Open reports/orbit_march_brief.md after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12  ·  SESSION 1 OF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LangChain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The parts — and when you don't need an 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Models, prompts, structured output, LCEL and tools.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Project: a review-intelligence pipeline over a CSV. No agent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ways to build the same 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442106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29666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95728"/>
            <a:ext cx="29666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296661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while loop, a schema, a dispatch dict. You saw every moving part.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847088"/>
            <a:ext cx="3442106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538" y="2075688"/>
            <a:ext cx="29666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395728"/>
            <a:ext cx="29666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OpenAI Agents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44368"/>
            <a:ext cx="296661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 dirty="0">
                <a:solidFill>
                  <a:srgbClr val="9AA3C4"/>
                </a:solidFill>
                <a:latin typeface="Aptos"/>
              </a:rPr>
              <a:t>the loop, packaged. Small, OpenAI-first, model-driven.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847088"/>
            <a:ext cx="3442106" cy="237744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8964" y="2075688"/>
            <a:ext cx="29666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WEEK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964" y="2395728"/>
            <a:ext cx="29666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2944368"/>
            <a:ext cx="296661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 dirty="0">
                <a:solidFill>
                  <a:srgbClr val="9AA3C4"/>
                </a:solidFill>
                <a:latin typeface="Aptos"/>
              </a:rPr>
              <a:t>a library of interchangeable parts, any provider. Agents are one thing you build from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988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6634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Same loop underneath all three. Next, LangGraph lets you draw the loop yourself.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What LangChain is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package map, and what v1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Models and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init_chat_model, any provider, invoke/batch/stream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Prompts and structured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Templates, partials, history, typed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LCEL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pipe, parallel, assign, 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Tools, without an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bind_tools: the model only asks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Project: review intelligence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35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CSV in, report out — a pipeline, no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WHAT IT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LangChain in 2026 is a set of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30319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2631" y="1618488"/>
            <a:ext cx="4207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WHAT'S IN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1398" y="1618488"/>
            <a:ext cx="30319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YOU'LL USE IT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langchain-core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2631" y="2057400"/>
            <a:ext cx="40064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interfaces: Runnable, messages, prompts,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1398" y="2057400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everything, indirectly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69464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2631" y="2569464"/>
            <a:ext cx="40064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init_chat_model, create_agent,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1398" y="2569464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models and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081528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langchain-openai, -anthropic,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2631" y="3081528"/>
            <a:ext cx="40064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package per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1398" y="3081528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actual model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593592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2631" y="3593592"/>
            <a:ext cx="40064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runtime underneath create_agent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1398" y="3593592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memory, interrupts — and Week 13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77640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105656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langchain-classic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2631" y="4105656"/>
            <a:ext cx="40064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old chains, memory, AgentExecutor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1398" y="4105656"/>
            <a:ext cx="283075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reading old tutorials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67258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837176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Parts from any provider, snapped together — plus an agent builder that runs on LangGraph.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V1 REMOVED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If you learned LangChain before late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402798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OLD (NOW GONE FROM LANGCHAIN)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8686" y="1527048"/>
            <a:ext cx="463214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USE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2001" y="1527048"/>
            <a:ext cx="161132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LLMChain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8686" y="19659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prompt | llm | parser   (LCEL)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2001" y="19659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4231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SequentialChain / SimpleSequentialChain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86" y="24231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| b |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2001" y="24231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523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28803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RouterChain / MultiPromptChain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686" y="28803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function that returns the next Runnable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2001" y="28803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3375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PydanticOutputParser + format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8686" y="33375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llm.with_structured_output(Model)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2001" y="33375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667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7947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ConversationBufferMemory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8686" y="37947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MessagesPlaceholder + a checkpointer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2001" y="37947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2519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AgentExecutor / initialize_agent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8686" y="42519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create_agent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2001" y="42519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581144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4709160"/>
            <a:ext cx="38268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RetrievalQA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8686" y="4709160"/>
            <a:ext cx="44309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retriever | prompt | llm — or an agent with a retriever 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2001" y="4709160"/>
            <a:ext cx="141015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7550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340096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Verified on langchain 1.4.2: all three old imports fail.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Models, prompts, output, LCEL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one of them is a Runnable: invoke, batch, stream, async.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PARTS · 75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1 ·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One interface, any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from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langchain.chat_models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 import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init_chat_model</a:t>
            </a:r>
            <a:endParaRPr sz="110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9AA3C4"/>
                </a:solidFill>
                <a:latin typeface="Consolas"/>
              </a:rPr>
              <a:t>llm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 =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init_chat_model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("openai:gpt-4.1-mini")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666E94"/>
                </a:solidFill>
                <a:latin typeface="Consolas"/>
              </a:rPr>
              <a:t># </a:t>
            </a:r>
            <a:r>
              <a:rPr sz="1100" b="0" i="0" dirty="0" err="1">
                <a:solidFill>
                  <a:srgbClr val="666E94"/>
                </a:solidFill>
                <a:latin typeface="Consolas"/>
              </a:rPr>
              <a:t>init_chat_model</a:t>
            </a:r>
            <a:r>
              <a:rPr sz="1100" b="0" i="0" dirty="0">
                <a:solidFill>
                  <a:srgbClr val="666E94"/>
                </a:solidFill>
                <a:latin typeface="Consolas"/>
              </a:rPr>
              <a:t>("anthropic:claude-sonnet-5")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666E94"/>
                </a:solidFill>
                <a:latin typeface="Consolas"/>
              </a:rPr>
              <a:t># </a:t>
            </a:r>
            <a:r>
              <a:rPr sz="1100" b="0" i="0" dirty="0" err="1">
                <a:solidFill>
                  <a:srgbClr val="666E94"/>
                </a:solidFill>
                <a:latin typeface="Consolas"/>
              </a:rPr>
              <a:t>init_chat_model</a:t>
            </a:r>
            <a:r>
              <a:rPr sz="1100" b="0" i="0" dirty="0">
                <a:solidFill>
                  <a:srgbClr val="666E94"/>
                </a:solidFill>
                <a:latin typeface="Consolas"/>
              </a:rPr>
              <a:t>("google_genai:gemini-2.5-flash")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666E94"/>
                </a:solidFill>
                <a:latin typeface="Consolas"/>
              </a:rPr>
              <a:t># </a:t>
            </a:r>
            <a:r>
              <a:rPr sz="1100" b="0" i="0" dirty="0" err="1">
                <a:solidFill>
                  <a:srgbClr val="666E94"/>
                </a:solidFill>
                <a:latin typeface="Consolas"/>
              </a:rPr>
              <a:t>init_chat_model</a:t>
            </a:r>
            <a:r>
              <a:rPr sz="1100" b="0" i="0" dirty="0">
                <a:solidFill>
                  <a:srgbClr val="666E94"/>
                </a:solidFill>
                <a:latin typeface="Consolas"/>
              </a:rPr>
              <a:t>("ollama:llama3.2")   # local, no key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 dirty="0">
              <a:solidFill>
                <a:srgbClr val="666E9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9AA3C4"/>
                </a:solidFill>
                <a:latin typeface="Consolas"/>
              </a:rPr>
              <a:t>llm.invoke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("...")   # -&gt;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AIMessage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 (+ usage)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5615" y="1664208"/>
            <a:ext cx="188238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9166" y="1664208"/>
            <a:ext cx="2924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75104"/>
            <a:ext cx="520887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5615" y="2103120"/>
            <a:ext cx="16812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invoke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9166" y="2103120"/>
            <a:ext cx="2722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2523744"/>
            <a:ext cx="16812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batch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9166" y="2523744"/>
            <a:ext cx="2722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many inputs, concurrently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2816352"/>
            <a:ext cx="520887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5615" y="2944368"/>
            <a:ext cx="16812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9166" y="2944368"/>
            <a:ext cx="2722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token by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3364992"/>
            <a:ext cx="16812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ainvoke / abatch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9166" y="3364992"/>
            <a:ext cx="2722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async versions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2452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38912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Every component — prompt, model, whole chain — has these same four methods. That's the Runnable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2 ·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Prompts with named holes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 err="1">
                <a:solidFill>
                  <a:srgbClr val="9AA3C4"/>
                </a:solidFill>
                <a:latin typeface="Consolas"/>
              </a:rPr>
              <a:t>summarise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 = 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ChatPromptTemplate.from_messages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([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("system", "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Summarise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 for a {audience}"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           " in {words} words."),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("human", "Review: {review}"),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])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 err="1">
                <a:solidFill>
                  <a:srgbClr val="9AA3C4"/>
                </a:solidFill>
                <a:latin typeface="Consolas"/>
              </a:rPr>
              <a:t>for_pm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 = 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summarise.partial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(audience="PM", words=12)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chat = 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ChatPromptTemplate.from_messages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([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("system", "..."),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MessagesPlaceholder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("history"),   # memory goes here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("human", "{question}")])</a:t>
            </a:r>
          </a:p>
        </p:txBody>
      </p:sp>
      <p:sp>
        <p:nvSpPr>
          <p:cNvPr id="10" name="Oval 9"/>
          <p:cNvSpPr/>
          <p:nvPr/>
        </p:nvSpPr>
        <p:spPr>
          <a:xfrm>
            <a:off x="6324447" y="19385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7055" y="1828800"/>
            <a:ext cx="491627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template is the unit you version, test and reuse.</a:t>
            </a:r>
          </a:p>
        </p:txBody>
      </p:sp>
      <p:sp>
        <p:nvSpPr>
          <p:cNvPr id="12" name="Oval 11"/>
          <p:cNvSpPr/>
          <p:nvPr/>
        </p:nvSpPr>
        <p:spPr>
          <a:xfrm>
            <a:off x="6324447" y="26243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7055" y="2514600"/>
            <a:ext cx="491627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partial() fixes some variables now, the rest later.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33101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7055" y="3200400"/>
            <a:ext cx="491627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MessagesPlaceholder is a slot for a whole conversation — the job ConversationBufferMemory used to do.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9959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7055" y="3886200"/>
            <a:ext cx="4916271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Templates are Runnables too: invoke one and read the filled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3 ·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Typed answers from any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class 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ReviewAnalysis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(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BaseModel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  sentiment: Literal["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positive","negative","mixed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  issues: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  category: Literal["battery", "sound", ...]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  severity: int = Field(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ge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=1, le=5)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    language: Literal["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english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","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hinglish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","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hindi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analyst = 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llm.with_structured_output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(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ReviewAnalysis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LIVE — A HINGLISH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938528"/>
            <a:ext cx="5208879" cy="82296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3903" y="2075688"/>
            <a:ext cx="476996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 dirty="0">
                <a:solidFill>
                  <a:srgbClr val="F2F4FF"/>
                </a:solidFill>
                <a:latin typeface="Aptos"/>
              </a:rPr>
              <a:t>"Sound quality mast </a:t>
            </a:r>
            <a:r>
              <a:rPr sz="1300" b="0" i="1" dirty="0" err="1">
                <a:solidFill>
                  <a:srgbClr val="F2F4FF"/>
                </a:solidFill>
                <a:latin typeface="Aptos"/>
              </a:rPr>
              <a:t>hai</a:t>
            </a:r>
            <a:r>
              <a:rPr sz="1300" b="0" i="1" dirty="0">
                <a:solidFill>
                  <a:srgbClr val="F2F4FF"/>
                </a:solidFill>
                <a:latin typeface="Aptos"/>
              </a:rPr>
              <a:t> but charging case ka hinge 2 weeks </a:t>
            </a:r>
            <a:r>
              <a:rPr sz="1300" b="0" i="1" dirty="0" err="1">
                <a:solidFill>
                  <a:srgbClr val="F2F4FF"/>
                </a:solidFill>
                <a:latin typeface="Aptos"/>
              </a:rPr>
              <a:t>mein</a:t>
            </a:r>
            <a:r>
              <a:rPr sz="1300" b="0" i="1" dirty="0">
                <a:solidFill>
                  <a:srgbClr val="F2F4FF"/>
                </a:solidFill>
                <a:latin typeface="Aptos"/>
              </a:rPr>
              <a:t> toot </a:t>
            </a:r>
            <a:r>
              <a:rPr sz="1300" b="0" i="1" dirty="0" err="1">
                <a:solidFill>
                  <a:srgbClr val="F2F4FF"/>
                </a:solidFill>
                <a:latin typeface="Aptos"/>
              </a:rPr>
              <a:t>gaya</a:t>
            </a:r>
            <a:r>
              <a:rPr sz="1300" b="0" i="1" dirty="0">
                <a:solidFill>
                  <a:srgbClr val="F2F4FF"/>
                </a:solidFill>
                <a:latin typeface="Aptos"/>
              </a:rPr>
              <a:t>. </a:t>
            </a:r>
            <a:r>
              <a:rPr sz="1300" b="0" i="1" dirty="0" err="1">
                <a:solidFill>
                  <a:srgbClr val="F2F4FF"/>
                </a:solidFill>
                <a:latin typeface="Aptos"/>
              </a:rPr>
              <a:t>Bekaar</a:t>
            </a:r>
            <a:r>
              <a:rPr sz="1300" b="0" i="1" dirty="0">
                <a:solidFill>
                  <a:srgbClr val="F2F4FF"/>
                </a:solidFill>
                <a:latin typeface="Aptos"/>
              </a:rPr>
              <a:t>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94436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2191" y="3127248"/>
            <a:ext cx="47516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sentiment = "mixed"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issues    = ["charging case hinge broken"]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category  = "build quality"   severity = 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 dirty="0">
                <a:solidFill>
                  <a:srgbClr val="9AA3C4"/>
                </a:solidFill>
                <a:latin typeface="Consolas"/>
              </a:rPr>
              <a:t>language  = "</a:t>
            </a:r>
            <a:r>
              <a:rPr sz="1050" b="0" i="0" dirty="0" err="1">
                <a:solidFill>
                  <a:srgbClr val="9AA3C4"/>
                </a:solidFill>
                <a:latin typeface="Consolas"/>
              </a:rPr>
              <a:t>hinglish</a:t>
            </a:r>
            <a:r>
              <a:rPr sz="1050" b="0" i="0" dirty="0">
                <a:solidFill>
                  <a:srgbClr val="9AA3C4"/>
                </a:solidFill>
                <a:latin typeface="Consolas"/>
              </a:rPr>
              <a:t>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360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80060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 dirty="0">
                <a:solidFill>
                  <a:srgbClr val="A78BFA"/>
                </a:solidFill>
                <a:latin typeface="Aptos"/>
              </a:rPr>
              <a:t>Replaces output parsers + "format instructions". Field descriptions are prompt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LCEL: the pipe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 dirty="0">
                <a:solidFill>
                  <a:srgbClr val="9AA3C4"/>
                </a:solidFill>
                <a:latin typeface="Consolas"/>
              </a:rPr>
              <a:t>chain = </a:t>
            </a:r>
            <a:r>
              <a:rPr sz="1200" b="0" i="0" dirty="0" err="1">
                <a:solidFill>
                  <a:srgbClr val="9AA3C4"/>
                </a:solidFill>
                <a:latin typeface="Consolas"/>
              </a:rPr>
              <a:t>summarise</a:t>
            </a:r>
            <a:r>
              <a:rPr sz="1200" b="0" i="0" dirty="0">
                <a:solidFill>
                  <a:srgbClr val="9AA3C4"/>
                </a:solidFill>
                <a:latin typeface="Consolas"/>
              </a:rPr>
              <a:t> | </a:t>
            </a:r>
            <a:r>
              <a:rPr sz="1200" b="0" i="0" dirty="0" err="1">
                <a:solidFill>
                  <a:srgbClr val="9AA3C4"/>
                </a:solidFill>
                <a:latin typeface="Consolas"/>
              </a:rPr>
              <a:t>llm</a:t>
            </a:r>
            <a:r>
              <a:rPr sz="1200" b="0" i="0" dirty="0">
                <a:solidFill>
                  <a:srgbClr val="9AA3C4"/>
                </a:solidFill>
                <a:latin typeface="Consolas"/>
              </a:rPr>
              <a:t> | </a:t>
            </a:r>
            <a:r>
              <a:rPr sz="1200" b="0" i="0" dirty="0" err="1">
                <a:solidFill>
                  <a:srgbClr val="9AA3C4"/>
                </a:solidFill>
                <a:latin typeface="Consolas"/>
              </a:rPr>
              <a:t>StrOutputParser</a:t>
            </a:r>
            <a:r>
              <a:rPr sz="1200" b="0" i="0" dirty="0">
                <a:solidFill>
                  <a:srgbClr val="9AA3C4"/>
                </a:solidFill>
                <a:latin typeface="Consolas"/>
              </a:rPr>
              <a:t>()      # a chain is just parts piped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78608"/>
            <a:ext cx="25175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8275" y="2578608"/>
            <a:ext cx="4330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LCEL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9507" y="2578608"/>
            <a:ext cx="342381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REPLACED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950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017520"/>
            <a:ext cx="23164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275" y="3017520"/>
            <a:ext cx="4128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| b |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9507" y="3017520"/>
            <a:ext cx="32226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LLMChain, SequentialChain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493008"/>
            <a:ext cx="23164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Parallel fan-out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8275" y="3493008"/>
            <a:ext cx="4128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9AA3C4"/>
                </a:solidFill>
                <a:latin typeface="Aptos"/>
              </a:rPr>
              <a:t>RunnableParallel</a:t>
            </a:r>
            <a:r>
              <a:rPr sz="1200" b="0" i="0" dirty="0">
                <a:solidFill>
                  <a:srgbClr val="9AA3C4"/>
                </a:solidFill>
                <a:latin typeface="Aptos"/>
              </a:rPr>
              <a:t>(x=a, y=b)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9507" y="3493008"/>
            <a:ext cx="32226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parts of MapReduceChain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4048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968496"/>
            <a:ext cx="23164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Keep input, add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8275" y="3968496"/>
            <a:ext cx="4128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9AA3C4"/>
                </a:solidFill>
                <a:latin typeface="Aptos"/>
              </a:rPr>
              <a:t>RunnablePassthrough.assign</a:t>
            </a:r>
            <a:r>
              <a:rPr sz="1200" b="0" i="0" dirty="0">
                <a:solidFill>
                  <a:srgbClr val="9AA3C4"/>
                </a:solidFill>
                <a:latin typeface="Aptos"/>
              </a:rPr>
              <a:t>(new=...)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9507" y="3968496"/>
            <a:ext cx="32226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input/output juggling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1640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8275" y="4443984"/>
            <a:ext cx="4128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>
                <a:solidFill>
                  <a:srgbClr val="9AA3C4"/>
                </a:solidFill>
                <a:latin typeface="Aptos"/>
              </a:rPr>
              <a:t>a function that returns the next Runnable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9507" y="4443984"/>
            <a:ext cx="322265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RouterChain, MultiPromptChain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74336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138928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 chain is a Runnable, so it gets batch, stream and async for free.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4 · A REAL GOTCHA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parallel branch gets the same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751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RunnableParallel(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analysis=analyst,            # gets a dict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one_line=prompt | llm | parser)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0156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3538728"/>
            <a:ext cx="476996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FB7185"/>
                </a:solidFill>
                <a:latin typeface="Consolas"/>
              </a:rPr>
              <a:t>ValueError: Invalid input type &lt;class 'dict'&gt;. Must be a PromptValue, str, or list of BaseMessages.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1865376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2191" y="2048256"/>
            <a:ext cx="4751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from operator import itemgetter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RunnableParallel(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analysis=itemgetter("input") | analyst,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one_line=prompt | llm | parser)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538727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7055" y="3428999"/>
            <a:ext cx="491627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prompt template can read a dict. A model can't.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3950207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7055" y="3840479"/>
            <a:ext cx="491627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Pull out the field each branch needs.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5902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7548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We hit this building the notebook. Most LCEL errors are a shape mismatch between two parts.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Tools without an agent: the model only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4688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@tool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def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get_price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(product: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"""Get the current price in INR of 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Nimbus product."""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 dirty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ai =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llm.bind_tools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([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get_price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]).invoke(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"How much are the Pulse X1 earbuds?")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4688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ai.content     ''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ai.tool_calls  [{'name': 'get_price',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  'args': {'product': 'Pulse X1'}}]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nothing ran.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running it + looping = the agent 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4074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57200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Same lesson as Weeks 10 and 11. Next session, create_agent runs the loop for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 dirty="0">
                <a:solidFill>
                  <a:srgbClr val="F2F4FF"/>
                </a:solidFill>
                <a:latin typeface="Aptos"/>
              </a:rPr>
              <a:t>Review intelligence, with no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36 reviews in a CSV, English and Hinglish. One report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PROJECT · 35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Five chains and some 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reviews.csv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4643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5539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A · analyse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batch ×36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21814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32710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B · pandas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count, group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58985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9881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 · themes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parallel ×3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96156" y="24140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7052" y="19842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E ·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2710" y="3355848"/>
            <a:ext cx="1926275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D · triage rule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(code)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9881" y="3355848"/>
            <a:ext cx="4163446" cy="868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replies (batch) · or ESCALATE: safety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58676" y="2852928"/>
            <a:ext cx="1274034" cy="93268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8985" y="3785616"/>
            <a:ext cx="310896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453128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666E94"/>
                </a:solidFill>
                <a:latin typeface="Aptos"/>
              </a:rPr>
              <a:t>violet = the model does language work     green = code does the 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Live: 36 reviews analysed in about 5 seconds, 11 replies drafted, 1 safety escalation.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WHAT WENT WRONG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"Mentioned in 120 reviews" — out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FIRST DRAFT: THE MODEL COUNTED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48256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=== Echo Bar ===   (12 reviews)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 Frequent disconnections: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mentioned in 120 reviews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 Short Bluetooth range: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mentioned in 95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FIX: PANDAS COUNTS, THE MODEL DESCRIBES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65376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2191" y="2048256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counts = unhappy["category"].value_counts()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"Quote counts ONLY from the table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above and never invent a number."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 Build quality ... 2 reviews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7880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34340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Worse: the final report repeated the fake numbers with total confidence. Counting is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 this was a pipeline, not an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34D399"/>
                </a:solidFill>
                <a:latin typeface="Aptos"/>
              </a:rPr>
              <a:t>Build a pipeline when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62432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514600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step is known in advance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136392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3026664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steps run for every input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64845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538728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want it cheap, fast and unit-testable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16052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4050792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classify 10,000 reviews tonight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175564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98767" y="1975104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Build an agent when</a:t>
            </a:r>
          </a:p>
        </p:txBody>
      </p:sp>
      <p:sp>
        <p:nvSpPr>
          <p:cNvPr id="20" name="Oval 19"/>
          <p:cNvSpPr/>
          <p:nvPr/>
        </p:nvSpPr>
        <p:spPr>
          <a:xfrm>
            <a:off x="6635343" y="262432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27951" y="2514600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next step depends on what you just found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313639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7951" y="3026664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question is open-ended</a:t>
            </a:r>
          </a:p>
        </p:txBody>
      </p:sp>
      <p:sp>
        <p:nvSpPr>
          <p:cNvPr id="24" name="Oval 23"/>
          <p:cNvSpPr/>
          <p:nvPr/>
        </p:nvSpPr>
        <p:spPr>
          <a:xfrm>
            <a:off x="6635343" y="364845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27951" y="3538728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 can accept variable cost and paths</a:t>
            </a:r>
          </a:p>
        </p:txBody>
      </p:sp>
      <p:sp>
        <p:nvSpPr>
          <p:cNvPr id="26" name="Oval 25"/>
          <p:cNvSpPr/>
          <p:nvPr/>
        </p:nvSpPr>
        <p:spPr>
          <a:xfrm>
            <a:off x="6635343" y="416052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7951" y="4050792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e.g. "why did Orbit's rating drop in March?"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560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512064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Week 10's ladder: take the lowest rung that works. Next session: the agent.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01_langchain_components.ipynb — rerun it and try the five exercises.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next session: think of one question about data that a pipeline couldn't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“LangChain or the Agents SDK?”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“Where did ConversationBufferMemory go?”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I run this on a local model?”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12  ·  SESSION 2 OF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Agents with create_agent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A data analyst that investigates — and when not to trust 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Tools, memory, structured findings, charts — and middleware for everything else.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Notebook: 02_agents_create_agent.ipynb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question a pipeline can't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…and the map from Weeks 10 and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Safe tools + create_agent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Schemas as guardrails; units and denominators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Make it investigate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call vs twelve: the prompt does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Streaming, structure, memory,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What a real analyst UI needs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Middleware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35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Budgets, PII, approvals, tool errors, your 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2:15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Capstone + the worst bug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can't see its own chart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WHY AN AGENT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"Why did Orbit's rating drop, and when?"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You can't write the steps down: the next query depends on what the last one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84248"/>
            <a:ext cx="31972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10 ·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7960" y="1984248"/>
            <a:ext cx="31972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 · AGENTS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6384" y="1984248"/>
            <a:ext cx="38769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12 · LANGCHAIN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95144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423160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while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7960" y="2423160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9AA3C4"/>
                </a:solidFill>
                <a:latin typeface="Aptos"/>
              </a:rPr>
              <a:t>Runner.run</a:t>
            </a:r>
            <a:endParaRPr sz="12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56384" y="2423160"/>
            <a:ext cx="3675773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9AA3C4"/>
                </a:solidFill>
                <a:latin typeface="Aptos"/>
              </a:rPr>
              <a:t>create_agent</a:t>
            </a:r>
            <a:r>
              <a:rPr sz="1200" b="0" i="0" dirty="0">
                <a:solidFill>
                  <a:srgbClr val="9AA3C4"/>
                </a:solidFill>
                <a:latin typeface="Aptos"/>
              </a:rPr>
              <a:t>(...).invoke</a:t>
            </a:r>
            <a:r>
              <a:rPr lang="en-US" sz="1200" b="0" i="0" dirty="0">
                <a:solidFill>
                  <a:srgbClr val="9AA3C4"/>
                </a:solidFill>
                <a:latin typeface="Aptos"/>
              </a:rPr>
              <a:t> (Advantage: 3 Runnable)</a:t>
            </a:r>
            <a:endParaRPr sz="12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536" y="2843784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 + 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7960" y="2843784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>
                <a:solidFill>
                  <a:srgbClr val="9AA3C4"/>
                </a:solidFill>
                <a:latin typeface="Aptos"/>
              </a:rPr>
              <a:t>@</a:t>
            </a:r>
            <a:r>
              <a:rPr sz="1200" b="0" i="0" dirty="0" err="1">
                <a:solidFill>
                  <a:srgbClr val="9AA3C4"/>
                </a:solidFill>
                <a:latin typeface="Aptos"/>
              </a:rPr>
              <a:t>function_tool</a:t>
            </a:r>
            <a:endParaRPr sz="12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56384" y="2843784"/>
            <a:ext cx="367577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36392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264408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 dirty="0">
                <a:solidFill>
                  <a:srgbClr val="F2F4FF"/>
                </a:solidFill>
                <a:latin typeface="Aptos"/>
              </a:rPr>
              <a:t>messages 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7960" y="3264408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6384" y="3264408"/>
            <a:ext cx="3675773" cy="404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9AA3C4"/>
                </a:solidFill>
                <a:latin typeface="Aptos"/>
              </a:rPr>
              <a:t>checkpointer</a:t>
            </a:r>
            <a:r>
              <a:rPr sz="1200" b="0" i="0" dirty="0">
                <a:solidFill>
                  <a:srgbClr val="9AA3C4"/>
                </a:solidFill>
                <a:latin typeface="Aptos"/>
              </a:rPr>
              <a:t> + </a:t>
            </a:r>
            <a:r>
              <a:rPr sz="1200" b="0" i="0" dirty="0" err="1">
                <a:solidFill>
                  <a:srgbClr val="9AA3C4"/>
                </a:solidFill>
                <a:latin typeface="Aptos"/>
              </a:rPr>
              <a:t>thread_id</a:t>
            </a:r>
            <a:r>
              <a:rPr lang="en-US" sz="1200" b="0" i="0" dirty="0">
                <a:solidFill>
                  <a:srgbClr val="9AA3C4"/>
                </a:solidFill>
                <a:latin typeface="Aptos"/>
              </a:rPr>
              <a:t> (Different threads for same </a:t>
            </a:r>
            <a:r>
              <a:rPr lang="en-US" sz="1200" b="0" i="0" dirty="0" err="1">
                <a:solidFill>
                  <a:srgbClr val="9AA3C4"/>
                </a:solidFill>
                <a:latin typeface="Aptos"/>
              </a:rPr>
              <a:t>usecase</a:t>
            </a:r>
            <a:r>
              <a:rPr lang="en-US" sz="1200" b="0" i="0" dirty="0">
                <a:solidFill>
                  <a:srgbClr val="9AA3C4"/>
                </a:solidFill>
                <a:latin typeface="Aptos"/>
              </a:rPr>
              <a:t>)</a:t>
            </a:r>
            <a:endParaRPr sz="12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9536" y="3685032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 dirty="0" err="1">
                <a:solidFill>
                  <a:srgbClr val="F2F4FF"/>
                </a:solidFill>
                <a:latin typeface="Aptos"/>
              </a:rPr>
              <a:t>max_steps</a:t>
            </a:r>
            <a:endParaRPr sz="1200" b="1" i="0" dirty="0">
              <a:solidFill>
                <a:srgbClr val="F2F4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57960" y="3685032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6384" y="3685032"/>
            <a:ext cx="3675773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9AA3C4"/>
                </a:solidFill>
                <a:latin typeface="Aptos"/>
              </a:rPr>
              <a:t>ModelCallLimitMiddleware</a:t>
            </a:r>
            <a:r>
              <a:rPr lang="en-US" sz="1200" b="0" i="0" dirty="0">
                <a:solidFill>
                  <a:srgbClr val="9AA3C4"/>
                </a:solidFill>
                <a:latin typeface="Aptos"/>
              </a:rPr>
              <a:t> (model calls, tool calls)</a:t>
            </a:r>
            <a:endParaRPr sz="12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3977640"/>
            <a:ext cx="10874959" cy="42062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105656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gate on send_email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7960" y="4105656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6384" y="4105656"/>
            <a:ext cx="367577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HumanInTheLoopMiddleware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526280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 dirty="0">
                <a:solidFill>
                  <a:srgbClr val="F2F4FF"/>
                </a:solidFill>
                <a:latin typeface="Aptos"/>
              </a:rPr>
              <a:t>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7960" y="4526280"/>
            <a:ext cx="29960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6384" y="4526280"/>
            <a:ext cx="367577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middleware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create_agent: the loop, as a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analyst =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create_agent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"openai:gpt-4.1-mini",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tools=[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describe_data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, aggregate,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       correlation,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make_chart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system_prompt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=ANALYST_PROMPT,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r = </a:t>
            </a:r>
            <a:r>
              <a:rPr sz="1100" b="0" i="0" dirty="0" err="1">
                <a:solidFill>
                  <a:srgbClr val="9AA3C4"/>
                </a:solidFill>
                <a:latin typeface="Consolas"/>
              </a:rPr>
              <a:t>analyst.invoke</a:t>
            </a:r>
            <a:r>
              <a:rPr sz="1100" b="0" i="0" dirty="0">
                <a:solidFill>
                  <a:srgbClr val="9AA3C4"/>
                </a:solidFill>
                <a:latin typeface="Consolas"/>
              </a:rPr>
              <a:t>({"messages": 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 dirty="0">
                <a:solidFill>
                  <a:srgbClr val="9AA3C4"/>
                </a:solidFill>
                <a:latin typeface="Consolas"/>
              </a:rPr>
              <a:t>    {"role": "user", "content": q}]})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0207" y="1664208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__start__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0207" y="2322576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0207" y="2980944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0207" y="3639312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__end__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6047" y="2121408"/>
            <a:ext cx="0" cy="2011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96047" y="2779776"/>
            <a:ext cx="0" cy="2011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96047" y="3438144"/>
            <a:ext cx="0" cy="201168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93327" y="280720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Aptos"/>
              </a:rPr>
              <a:t>tools → model
until no tool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15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48056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Input and output are state — a dict with a messages list. Your Week 10 list, inside a graph.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1 · SAFE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schema is a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"Run any pandas code" (pandas agent)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5786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468880"/>
            <a:ext cx="43676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writes Python; you execute it on your machine.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14553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3035808"/>
            <a:ext cx="43676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Rung 5 of Week 10's ladder: arbitrary code execution.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71246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602736"/>
            <a:ext cx="43676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Lives in langchain_experimental for a reason.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175564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8767" y="195681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 few tools with Literal schemas</a:t>
            </a:r>
          </a:p>
        </p:txBody>
      </p:sp>
      <p:sp>
        <p:nvSpPr>
          <p:cNvPr id="18" name="Oval 17"/>
          <p:cNvSpPr/>
          <p:nvPr/>
        </p:nvSpPr>
        <p:spPr>
          <a:xfrm>
            <a:off x="6635343" y="257860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27951" y="2468880"/>
            <a:ext cx="43676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 dirty="0">
                <a:solidFill>
                  <a:srgbClr val="9AA3C4"/>
                </a:solidFill>
                <a:latin typeface="Aptos"/>
              </a:rPr>
              <a:t>metric: Literal["</a:t>
            </a:r>
            <a:r>
              <a:rPr sz="1300" b="0" i="0" dirty="0" err="1">
                <a:solidFill>
                  <a:srgbClr val="9AA3C4"/>
                </a:solidFill>
                <a:latin typeface="Aptos"/>
              </a:rPr>
              <a:t>revenue_inr</a:t>
            </a:r>
            <a:r>
              <a:rPr sz="1300" b="0" i="0" dirty="0">
                <a:solidFill>
                  <a:srgbClr val="9AA3C4"/>
                </a:solidFill>
                <a:latin typeface="Aptos"/>
              </a:rPr>
              <a:t>", "</a:t>
            </a:r>
            <a:r>
              <a:rPr sz="1300" b="0" i="0" dirty="0" err="1">
                <a:solidFill>
                  <a:srgbClr val="9AA3C4"/>
                </a:solidFill>
                <a:latin typeface="Aptos"/>
              </a:rPr>
              <a:t>avg_rating</a:t>
            </a:r>
            <a:r>
              <a:rPr sz="1300" b="0" i="0" dirty="0">
                <a:solidFill>
                  <a:srgbClr val="9AA3C4"/>
                </a:solidFill>
                <a:latin typeface="Aptos"/>
              </a:rPr>
              <a:t>", ...]</a:t>
            </a:r>
          </a:p>
        </p:txBody>
      </p:sp>
      <p:sp>
        <p:nvSpPr>
          <p:cNvPr id="20" name="Oval 19"/>
          <p:cNvSpPr/>
          <p:nvPr/>
        </p:nvSpPr>
        <p:spPr>
          <a:xfrm>
            <a:off x="6635343" y="314553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27951" y="3035808"/>
            <a:ext cx="43676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can't ask for a column that doesn't exist.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371246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7951" y="3602736"/>
            <a:ext cx="4367631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Live: it asked for metric="rating"; the schema rejected it and it corrected itself.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360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80060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Constrain what the model can ask for, and a whole class of errors can't happen.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WHAT WENT WRONG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Units and denominators, or it guesses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5564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5681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No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466023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INR revenue reported as "$255,336". The tool returned bare numbers; the model assumed dollars.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4660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→ Label every output: INR, %,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75564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8767" y="195681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No denominator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2487168"/>
            <a:ext cx="466023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"Guwahati: 60% of Orbit orders returned in March" — high confidence, from about 5 orders.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3767328"/>
            <a:ext cx="4660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→ Return n_orders per group; forbid conclusions from &lt; 20.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274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8920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After the fix, live: "Guwahati — 8.1 days over 138 orders." It cites the denominator.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 · MAKE IT INVESTIGATE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One call vs twelve: the prompt does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system_prompt="You are a data analyst.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Use tools for every number."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-&gt; 1 tool call. Finds WHEN (March).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-&gt; "we should look into factors..."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DATA · INVESTIGATION POLICY ·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STOPPING CONDITION · OUTPUT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-&gt; 12 tool calls: returns, delivery,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discounts, channels, cities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55848"/>
            <a:ext cx="10874959" cy="11887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511296"/>
            <a:ext cx="1032631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Why the DATA block exists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Without it the agent asked for month "2023-01" — it guessed the year from its training — got "no orders", and in the capstone spiralled into the call limit before answering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7316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93776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Same model, same tools. Week 10's six prompt blocks are still the highest-return fix.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PARTS 3–6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Streaming, structure and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344210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STREAMING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56816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39696"/>
            <a:ext cx="29849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for step in agent.stream(q,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stream_mode="updates"):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01568"/>
            <a:ext cx="344210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One event per step: the live "thinking…"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1664208"/>
            <a:ext cx="344210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STRUCTURED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1956816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2538" y="2139696"/>
            <a:ext cx="29849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create_agent(...,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response_format=Finding)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r["structured_response"]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4794" y="3401568"/>
            <a:ext cx="344210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headline, evidence, ruled_out, confidence — for a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1664208"/>
            <a:ext cx="344210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1220" y="1956816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8964" y="2139696"/>
            <a:ext cx="29849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create_agent(...,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    checkpointer=InMemorySaver())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9AA3C4"/>
                </a:solidFill>
                <a:latin typeface="Consolas"/>
              </a:rPr>
              <a:t>{"thread_id": "priya-monday"}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1220" y="3401568"/>
            <a:ext cx="344210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"Now just for Mumbai" works. A new thread_id starts fresh.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074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57200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The checkpointer saves the whole graph state — that's what lets a run pause for a human.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Where the guardrails live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Hooks before and after the model, and around every tool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MIDDLEWARE · 35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Middleware, mapped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4260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057" y="1618488"/>
            <a:ext cx="314497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198" y="1618488"/>
            <a:ext cx="2866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WEEK 10/11 EQUIVALENT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405918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ModelCallLimitMiddleware / ToolCallLimitMiddleware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057" y="2057400"/>
            <a:ext cx="294380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budgets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198" y="2057400"/>
            <a:ext cx="266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max_steps / max_turns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32888"/>
            <a:ext cx="405918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SummarizationMiddleware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057" y="2532888"/>
            <a:ext cx="294380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compacts old 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198" y="2532888"/>
            <a:ext cx="266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summarise-and-drop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8036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008376"/>
            <a:ext cx="405918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PIIMiddleware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057" y="3008376"/>
            <a:ext cx="294380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redact / mask / hash / 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198" y="3008376"/>
            <a:ext cx="266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input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483864"/>
            <a:ext cx="405918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HumanInTheLoopMiddleware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057" y="3483864"/>
            <a:ext cx="294380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pause: approve, edit,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198" y="3483864"/>
            <a:ext cx="266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3133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3959352"/>
            <a:ext cx="405918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ToolErrorMiddleware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057" y="3959352"/>
            <a:ext cx="294380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what the model is told on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7198" y="3959352"/>
            <a:ext cx="266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failure_error_function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434840"/>
            <a:ext cx="405918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@before_model · @dynamic_prompt ·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057" y="4434840"/>
            <a:ext cx="294380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own hooks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7198" y="4434840"/>
            <a:ext cx="266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own guardrails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65192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129784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Middleware is a list you attach. Order matters: they run in sequence around each step.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7A · BUDGETS,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model-call limit is not a cost cap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middleware=[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ModelCallLimitMiddleware(run_limit=3,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   exit_behavior="end"),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ToolCallLimitMiddleware(tool_name="make_chart",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       run_limit=1)]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model calls        : 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tool calls executed: 20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tool calls blocked : 17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one model call asked for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twenty tools in 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4164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20624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The chart limit worked. But 3 model calls still ran 20 tools. Cap the tools that cost money too.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7B · PII REDACTION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Every safety layer worked. The task failed.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18488"/>
            <a:ext cx="1087495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01368"/>
            <a:ext cx="1041775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what the model saw: ...email a short summary to [REDACTED_EMAIL]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approval screen   : send_report -&gt; [REDACTED_EMAIL]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actually sent to  : [REDACTED_EMAIL]          # and a human approved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7824" y="343814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" y="3412744"/>
            <a:ext cx="4651095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WHY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Redaction removed data the task needed.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approval screen showed a placeholder — nothing real to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321868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43903" y="343814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2775" y="3412744"/>
            <a:ext cx="4651095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FIX: DESIGN, NOT A SETTING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user says "email Priya". A tool looks her up in a directory, in code.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address never enters the chat. The approver sees "Priya".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Keep PII out of the conversation. Don't just scrub it once it's there.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7C · HUMANINTHELOOPMIDDLEWARE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Approve, edit or reject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HumanInTheLoopMiddleware(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interrupt_on={"email_colleague": True})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 = agent.invoke(q, cfg)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r["__interrupt__"]   # the paused call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agent.invoke(Command(resume={"decisions": 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{"type": "edit", "edited_action": {...}}]}),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cfg)</a:t>
            </a:r>
          </a:p>
        </p:txBody>
      </p:sp>
      <p:sp>
        <p:nvSpPr>
          <p:cNvPr id="10" name="Oval 9"/>
          <p:cNvSpPr/>
          <p:nvPr/>
        </p:nvSpPr>
        <p:spPr>
          <a:xfrm>
            <a:off x="6324447" y="193852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7055" y="1828800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approve — run it as proposed.</a:t>
            </a:r>
          </a:p>
        </p:txBody>
      </p:sp>
      <p:sp>
        <p:nvSpPr>
          <p:cNvPr id="12" name="Oval 11"/>
          <p:cNvSpPr/>
          <p:nvPr/>
        </p:nvSpPr>
        <p:spPr>
          <a:xfrm>
            <a:off x="6324447" y="25968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7055" y="2487168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edit — a human fixes the args first. Live: a new subject line went out.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325526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7055" y="3145536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reject — with a reason the model reads.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91363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7055" y="3803904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Needs a checkpointer: the paused state is saved, so the decision can come a day later.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7E · TOOL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When a tool throws: opposite defaults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15017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10878" y="1618488"/>
            <a:ext cx="4207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AGENTS SDK (WEEK 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45" y="1618488"/>
            <a:ext cx="391368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LANGCHAIN 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19490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 tool raises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0878" y="2057400"/>
            <a:ext cx="40064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model is told the error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45" y="2057400"/>
            <a:ext cx="37125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run halts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06040"/>
            <a:ext cx="19490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0878" y="2606040"/>
            <a:ext cx="40064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internal hosts and tokens reach the model; retry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45" y="2606040"/>
            <a:ext cx="37125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flaky API kills the conversation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26664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154680"/>
            <a:ext cx="19490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 control it with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0878" y="3154680"/>
            <a:ext cx="40064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failure_error_function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645" y="3154680"/>
            <a:ext cx="371251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ToolErrorMiddleware(on_error=...)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03904"/>
            <a:ext cx="10874959" cy="10972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986784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raise ConnectionError("inventory-api.internal:8443 timed out (auth=svc-token-9f2c)")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With ToolErrorMiddleware: "...the live stock service is unavailable. Please try again later."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Leaked the internal host or token to the model? False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THE WORST BUG WE HIT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model can't see the chart it made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EMAILED TO THE PRODUCT TEAM — AND APPROVED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208879" cy="11887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47333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FB7185"/>
                </a:solidFill>
                <a:latin typeface="Aptos"/>
              </a:rPr>
              <a:t>"…showing stable ratings around 3.9 stars and no dramatic spikes in return rates."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65376"/>
            <a:ext cx="5208879" cy="11887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2191" y="2011680"/>
            <a:ext cx="473339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Aptos"/>
              </a:rPr>
              <a:t>March: rating 2.98, returns 14.8%. The biggest story in the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1012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352958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3504184"/>
            <a:ext cx="465109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WHY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make_chart returned only a file path. The model described a PNG it never saw, using the H1 average from memory.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31012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43903" y="352958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2775" y="3504184"/>
            <a:ext cx="465109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FIX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tool returns the plotted numbers too.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approval screen shows the email body, not just the subject.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103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07492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Tools that make things for humans must also tell the model what's in them.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02_agents_create_agent.ipynb — try the five exercises, especially 'break the schema guardrail'.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Next session: agentic RAG, and MCP servers through LangChain.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“Pandas agent or safe tools?”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test an agent like this?”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“Where does the checkpointer store things?”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12  ·  SESSION 3 OF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Agentic RAG + MCP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Documents, data and the web — and the agent picks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analyst finally finds the root cause of Orbit's March.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Notebook: 03_agentic_rag_mcp.ipynb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Classic RAG, the v1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retriever | prompt | llm — and where it stops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Knowledge sources as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Docs with scores, read-only SQL, the 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Routing and multi-step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Four questions, four patterns; the firmware payoff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Check the trajectory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20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Parallel calls that guess, and the fix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Measure routing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10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six-question eval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2:00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MCP through LangChain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30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Two servers, least privilege, the incident brief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kinds of knowledge, one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4904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96" y="1618488"/>
            <a:ext cx="269882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WHAT'S IN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1185" y="1618488"/>
            <a:ext cx="29404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839" y="1618488"/>
            <a:ext cx="29404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GUARDRAIL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2893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96" y="2057400"/>
            <a:ext cx="24976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policies, manuals, firmware release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1185" y="2057400"/>
            <a:ext cx="27393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search_docs (vector search + scores)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2839" y="2057400"/>
            <a:ext cx="27393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scores tell it when to re-search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24328"/>
            <a:ext cx="12893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96" y="2624328"/>
            <a:ext cx="24976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six months of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1185" y="2624328"/>
            <a:ext cx="27393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query_sales (text-to-SQL)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2839" y="2624328"/>
            <a:ext cx="27393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read-only database 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63240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191256"/>
            <a:ext cx="128932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1196" y="3191256"/>
            <a:ext cx="24976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public, current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1185" y="3191256"/>
            <a:ext cx="27393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web_search (Tavily)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2839" y="3191256"/>
            <a:ext cx="273931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"NOT for Nimbus's own products"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587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02336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Agentic RAG: retrieval becomes a tool the agent picks, repeats and combines.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Classic RAG answers one kind of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10972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classic_rag = ({"context": retriever | format_docs, "question": RunnablePassthrough()}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               | rag_prompt | llm | StrOutputParser())          # replaces RetrievalQA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44368"/>
            <a:ext cx="5208879" cy="1645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" y="3163824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" y="3138424"/>
            <a:ext cx="4651095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ASKED ABOUT THE WARRANTY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Retrieves the policy, answers correctly, cites [warranty-policy].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944368"/>
            <a:ext cx="5208879" cy="16459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43903" y="316382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2775" y="3138424"/>
            <a:ext cx="4651095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ASKED IF FIRMWARE 2.3 HURT RATINGS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"The context does not provide any information about… average ratings."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ratings are in a database. It can't notice it needs another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646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02920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Classic RAG always does exactly one thing: retrieve, then answer.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3 · TEXT-TO-SQL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guardrail belongs at the layer that enforces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the real guardrail: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sqlite3.connect("file:sales.db?mode=ro",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 uri=True)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query_sales("DELETE FROM orders")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33391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100" b="0" i="0">
                <a:solidFill>
                  <a:srgbClr val="34D399"/>
                </a:solidFill>
                <a:latin typeface="Consolas"/>
              </a:rPr>
              <a:t>SQL error: attempt to write a readonly database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can write any SQL it likes. The connection can't change anything.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416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2062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A regex that checks for SELECT is not a guardrail. A read-only connection is.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4 · ROUTING,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questions, four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45015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62220" y="1618488"/>
            <a:ext cx="24440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SOURCES IT CHOSE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7480" y="1618488"/>
            <a:ext cx="33258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ANSWER (SHORT)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43003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Return policy if my Echo Bar arrives damaged?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2220" y="2057400"/>
            <a:ext cx="22429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7480" y="2057400"/>
            <a:ext cx="312467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7 days, free courier pickup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69464"/>
            <a:ext cx="43003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Orbit's return rate in March 2026?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2220" y="2569464"/>
            <a:ext cx="22429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query_sales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480" y="2569464"/>
            <a:ext cx="312467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14.8% (16 of 108 orders)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081528"/>
            <a:ext cx="43003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Latest Bluetooth version in budget earbuds?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2220" y="3081528"/>
            <a:ext cx="22429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web_search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7480" y="3081528"/>
            <a:ext cx="312467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5.4, with LE Audio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593592"/>
            <a:ext cx="430034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Nimbus's Q4 2026 revenue target?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2220" y="3593592"/>
            <a:ext cx="22429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480" y="3593592"/>
            <a:ext cx="312467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not in any source — says 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60520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325112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It routes by reading tool descriptions. Routing quality is description quality.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4 · MULTI-STEP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firmware question, 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Docs give the dates. Data gives the numbers. Neither could answer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9164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WINDOW (FROM THE RELEASE NOTES)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7163" y="2029968"/>
            <a:ext cx="171794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ORDERS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6273" y="2029968"/>
            <a:ext cx="171794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AVG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5383" y="2029968"/>
            <a:ext cx="171794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RETURN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4086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468880"/>
            <a:ext cx="471529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before 2.3 — before 5 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7163" y="2468880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6273" y="2468880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4.18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5383" y="2468880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5.2%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980944"/>
            <a:ext cx="471529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2.3 live — 5 Mar to 9 Apr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7163" y="2980944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122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273" y="2980944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2.70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5383" y="2980944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16.4%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6499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493008"/>
            <a:ext cx="471529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after 2.3.1 — from 10 Apr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7163" y="3493008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323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6273" y="3493008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4.22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5383" y="3493008"/>
            <a:ext cx="151677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3.4%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05656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270248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What broke [orbit-fw-2.3]: overheating while charging, and the app logged users out.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4 · PARALLEL CALLS IN THE TRAJECTORY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Step B can't use step A's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PARALLEL CALLS ON (DEFAULT)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48256"/>
            <a:ext cx="47516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step 1: [search_docs, search_docs,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search_docs, query_sales]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SQL used:  2026-03-15, 2026-04-20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MISMATCH — the answer still said '5 March'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591056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parallel_tool_calls=False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865376"/>
            <a:ext cx="5208879" cy="17373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2191" y="2048256"/>
            <a:ext cx="47516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step 1: [search_docs]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step 2: [query_sales]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SQL used:  2026-03-05, 2026-04-10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OK — matches the release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13048"/>
            <a:ext cx="1087495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950208"/>
            <a:ext cx="103263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SQL was written in the same step as the document search, before the dates came back, so it guessed them. In our tests: 3 of 7 correct with parallel calls, every run correct without. Same prompt, same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560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12064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Keep parallel calls for independent work. Turn them off when step B needs step A's answer.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Measure routing, don't eyeball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24688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question                                           expected                    correct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Is liquid damage covered by the warranty?           [search_docs]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How many Pulse X1 orders came from Pune?            [query_sales]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What does firmware 2.3.1 fix on the Orbit?          [search_docs]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Why is delivery to Guwahati slow, and how slow?     [query_sales, search_docs]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Which channel gives the highest average discount?   [query_sales]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What IP rating does the Echo Bar have?              [search_docs]               True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routing accuracy: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5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48056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Change a tool description, rerun the eval. Week 10's trajectory evaluation, applied to routing.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A78BFA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Two servers, one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langchain-mcp-adapters turns any MCP server's tools into LangChain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MCP THROUGH LANGCHAIN · 30 MINUTES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MultiServerMCPClient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client = MultiServerMCPClient({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"support": {"command": "python",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"args": ["nimbus_support_server.py"],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"transport": "stdio"},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"files": {"command": "npx", "args": [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"-y", "@modelcontextprotocol/server-filesystem",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str(REPORTS)], "transport": "stdio"}})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tools = await client.get_tools()     # 15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WE LEARNED WIRING IT UP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07568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1965960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Least privilege: the filesystem server brings 14 tools, including move_file. We kept 3.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73405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7055" y="2624328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MCP tools are async: await agent.ainvoke(). Plain invoke fails.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39242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055" y="3282696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doesn't know the server's root: it wrote to reports/reports/. Give it the absolute path.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05079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941064"/>
            <a:ext cx="4916271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same FastMCP you wrote in Week 10, unchanged.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7 ·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The incident brief: four sources, one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search_docs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release notes,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safety bulletin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3903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8223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query_sales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3 windows,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with 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3758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8078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list_tickets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MCP: support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desk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3613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7933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search_docs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4-hour escalation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rule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3468" y="235000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77788" y="1847088"/>
            <a:ext cx="1955535" cy="10058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write_file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2F4FF"/>
                </a:solidFill>
                <a:latin typeface="Aptos"/>
              </a:rPr>
              <a:t>MCP: filesystem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72968"/>
            <a:ext cx="10874959" cy="12801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328416"/>
            <a:ext cx="103263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From the brief it wrote: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1">
                <a:solidFill>
                  <a:srgbClr val="F2F4FF"/>
                </a:solidFill>
                <a:latin typeface="Aptos"/>
              </a:rPr>
              <a:t>"Ticket T-2101 reports a burning smell and overheating, which is a safety issue and breaches the 4-hour escalation rule… This must be escalated immediately to product safety."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8172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84632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The connection nobody makes when data, docs and tickets live in three different tools.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LangChain  · 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Week 12 in one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64208"/>
            <a:ext cx="974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5207" y="1664208"/>
            <a:ext cx="36197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YOU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6138" y="1664208"/>
            <a:ext cx="5677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THE LESSON THAT STUCK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7510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103120"/>
            <a:ext cx="773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5207" y="2103120"/>
            <a:ext cx="34185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review pipeline — no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6138" y="2103120"/>
            <a:ext cx="547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counting is code; most jobs are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43200"/>
            <a:ext cx="773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5207" y="2743200"/>
            <a:ext cx="34185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 analyst agent +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6138" y="2743200"/>
            <a:ext cx="547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units and denominators; the model can't see its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5526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383280"/>
            <a:ext cx="773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5207" y="3383280"/>
            <a:ext cx="34185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agentic RAG +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6138" y="3383280"/>
            <a:ext cx="547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combine sources; check the trajectory; guard at the layer that enforces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6966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334256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Next: LangGraph. create_agent was a prebuilt graph all week. Now you draw your own.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03_agentic_rag_mcp.ipynb — try exercise 1: break a description and rerun the routing eval.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Next week: LangGraph — state, nodes, edges, interrupts, and teams of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“Which vector database should I use?”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“Is text-to-SQL safe in production?”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“When should I turn off parallel calls?”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20046</TotalTime>
  <Words>5708</Words>
  <Application>Microsoft Macintosh PowerPoint</Application>
  <PresentationFormat>Widescreen</PresentationFormat>
  <Paragraphs>839</Paragraphs>
  <Slides>47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— Week 12</dc:title>
  <dc:subject/>
  <dc:creator/>
  <cp:keywords/>
  <dc:description>generated using python-pptx</dc:description>
  <cp:lastModifiedBy>Tools Outskill</cp:lastModifiedBy>
  <cp:revision>2</cp:revision>
  <dcterms:created xsi:type="dcterms:W3CDTF">2013-01-27T09:14:16Z</dcterms:created>
  <dcterms:modified xsi:type="dcterms:W3CDTF">2026-10-18T06:24:00Z</dcterms:modified>
  <cp:category/>
</cp:coreProperties>
</file>